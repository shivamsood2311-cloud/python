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99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61489" y="723900"/>
            <a:ext cx="4036060" cy="241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7" b="1" sz="1900">
                <a:solidFill>
                  <a:srgbClr val="17365D"/>
                </a:solidFill>
                <a:latin typeface="Roboto"/>
              </a:rPr>
              <a:t>Python OOP Questions –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1205230"/>
            <a:ext cx="620268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950">
                <a:solidFill>
                  <a:srgbClr val="000000"/>
                </a:solidFill>
                <a:latin typeface="Roboto"/>
              </a:rPr>
              <a:t>This document contains Python programs for Magic Methods, Inheritance, Polymorphism, and Encapsulation, based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60" y="1370330"/>
            <a:ext cx="141478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950">
                <a:solidFill>
                  <a:srgbClr val="000000"/>
                </a:solidFill>
                <a:latin typeface="Roboto"/>
              </a:rPr>
              <a:t>on the provided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" y="1675130"/>
            <a:ext cx="148209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9" b="1" sz="1400">
                <a:solidFill>
                  <a:srgbClr val="17365D"/>
                </a:solidFill>
                <a:latin typeface="Roboto"/>
              </a:rPr>
              <a:t>1. Magic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2160" y="1992630"/>
            <a:ext cx="759460" cy="1054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3" sz="850">
                <a:solidFill>
                  <a:srgbClr val="000000"/>
                </a:solidFill>
                <a:latin typeface="Roboto"/>
              </a:rPr>
              <a:t>class Point: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1390" y="2132330"/>
            <a:ext cx="1644650" cy="1054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86" sz="850">
                <a:solidFill>
                  <a:srgbClr val="000000"/>
                </a:solidFill>
                <a:latin typeface="Roboto"/>
              </a:rPr>
              <a:t> def __init__(self, x, y):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5390" y="2272030"/>
            <a:ext cx="694690" cy="1054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3" sz="850">
                <a:solidFill>
                  <a:srgbClr val="000000"/>
                </a:solidFill>
                <a:latin typeface="Roboto"/>
              </a:rPr>
              <a:t> self.x = 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5390" y="2411730"/>
            <a:ext cx="694690" cy="1054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7" sz="850">
                <a:solidFill>
                  <a:srgbClr val="000000"/>
                </a:solidFill>
                <a:latin typeface="Roboto"/>
              </a:rPr>
              <a:t> self.y = 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1390" y="2691130"/>
            <a:ext cx="1264920" cy="1054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4" sz="850">
                <a:solidFill>
                  <a:srgbClr val="000000"/>
                </a:solidFill>
                <a:latin typeface="Roboto"/>
              </a:rPr>
              <a:t> def __repr__(self):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5390" y="2830830"/>
            <a:ext cx="2275840" cy="1054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4" sz="850">
                <a:solidFill>
                  <a:srgbClr val="000000"/>
                </a:solidFill>
                <a:latin typeface="Roboto"/>
              </a:rPr>
              <a:t> return f"Point({self.x}, {self.y})"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160" y="3249930"/>
            <a:ext cx="1012190" cy="1054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9" sz="850">
                <a:solidFill>
                  <a:srgbClr val="000000"/>
                </a:solidFill>
                <a:latin typeface="Roboto"/>
              </a:rPr>
              <a:t>p1 = Point(2, 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160" y="3389629"/>
            <a:ext cx="568960" cy="105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5" sz="850">
                <a:solidFill>
                  <a:srgbClr val="000000"/>
                </a:solidFill>
                <a:latin typeface="Roboto"/>
              </a:rPr>
              <a:t>print(p1)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560" y="3630929"/>
            <a:ext cx="98552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0" b="1" sz="950">
                <a:solidFill>
                  <a:srgbClr val="000000"/>
                </a:solidFill>
                <a:latin typeface="Roboto"/>
              </a:rPr>
              <a:t>Expected output: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160" y="3872229"/>
            <a:ext cx="1201420" cy="105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6" sz="850">
                <a:solidFill>
                  <a:srgbClr val="000000"/>
                </a:solidFill>
                <a:latin typeface="Roboto"/>
              </a:rPr>
              <a:t>Output: Point(2, 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560" y="4316730"/>
            <a:ext cx="114681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1" b="1" sz="1400">
                <a:solidFill>
                  <a:srgbClr val="17365D"/>
                </a:solidFill>
                <a:latin typeface="Roboto"/>
              </a:rPr>
              <a:t>2. Inheritance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160" y="4634230"/>
            <a:ext cx="821690" cy="105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8" sz="850">
                <a:solidFill>
                  <a:srgbClr val="000000"/>
                </a:solidFill>
                <a:latin typeface="Roboto"/>
              </a:rPr>
              <a:t>class Animal: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1390" y="4773930"/>
            <a:ext cx="1644650" cy="105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0" sz="850">
                <a:solidFill>
                  <a:srgbClr val="000000"/>
                </a:solidFill>
                <a:latin typeface="Roboto"/>
              </a:rPr>
              <a:t> def __init__(self, name):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5390" y="4913630"/>
            <a:ext cx="1074420" cy="105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7" sz="850">
                <a:solidFill>
                  <a:srgbClr val="000000"/>
                </a:solidFill>
                <a:latin typeface="Roboto"/>
              </a:rPr>
              <a:t> self.name = 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1390" y="5193030"/>
            <a:ext cx="1075690" cy="105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9" sz="850">
                <a:solidFill>
                  <a:srgbClr val="000000"/>
                </a:solidFill>
                <a:latin typeface="Roboto"/>
              </a:rPr>
              <a:t> def speak(self):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5390" y="5332730"/>
            <a:ext cx="1074420" cy="105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9" sz="850">
                <a:solidFill>
                  <a:srgbClr val="000000"/>
                </a:solidFill>
                <a:latin typeface="Roboto"/>
              </a:rPr>
              <a:t> print(self.name)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160" y="5751830"/>
            <a:ext cx="1137920" cy="105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0" sz="850">
                <a:solidFill>
                  <a:srgbClr val="000000"/>
                </a:solidFill>
                <a:latin typeface="Roboto"/>
              </a:rPr>
              <a:t>class Dog(Animal):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390" y="5891530"/>
            <a:ext cx="316229" cy="105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2" sz="850">
                <a:solidFill>
                  <a:srgbClr val="000000"/>
                </a:solidFill>
                <a:latin typeface="Roboto"/>
              </a:rPr>
              <a:t> 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160" y="6310630"/>
            <a:ext cx="948690" cy="105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5" sz="850">
                <a:solidFill>
                  <a:srgbClr val="000000"/>
                </a:solidFill>
                <a:latin typeface="Roboto"/>
              </a:rPr>
              <a:t>d1 = Dog("Rex")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160" y="6450330"/>
            <a:ext cx="632460" cy="105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5" sz="850">
                <a:solidFill>
                  <a:srgbClr val="000000"/>
                </a:solidFill>
                <a:latin typeface="Roboto"/>
              </a:rPr>
              <a:t>d1.speak()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0560" y="6691630"/>
            <a:ext cx="98552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0" b="1" sz="950">
                <a:solidFill>
                  <a:srgbClr val="000000"/>
                </a:solidFill>
                <a:latin typeface="Roboto"/>
              </a:rPr>
              <a:t>Expected output: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160" y="6932930"/>
            <a:ext cx="695960" cy="105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1" sz="850">
                <a:solidFill>
                  <a:srgbClr val="000000"/>
                </a:solidFill>
                <a:latin typeface="Roboto"/>
              </a:rPr>
              <a:t>Output: Rex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560" y="7377430"/>
            <a:ext cx="143256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9" b="1" sz="1400">
                <a:solidFill>
                  <a:srgbClr val="17365D"/>
                </a:solidFill>
                <a:latin typeface="Roboto"/>
              </a:rPr>
              <a:t>3. Polymorphism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160" y="7694930"/>
            <a:ext cx="632460" cy="105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7" sz="850">
                <a:solidFill>
                  <a:srgbClr val="000000"/>
                </a:solidFill>
                <a:latin typeface="Roboto"/>
              </a:rPr>
              <a:t>class Cat: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1390" y="7834630"/>
            <a:ext cx="1075690" cy="105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5" sz="850">
                <a:solidFill>
                  <a:srgbClr val="000000"/>
                </a:solidFill>
                <a:latin typeface="Roboto"/>
              </a:rPr>
              <a:t> def sound(self):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5390" y="7974330"/>
            <a:ext cx="885190" cy="105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3" sz="850">
                <a:solidFill>
                  <a:srgbClr val="000000"/>
                </a:solidFill>
                <a:latin typeface="Roboto"/>
              </a:rPr>
              <a:t> print("Meow")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160" y="8393430"/>
            <a:ext cx="632460" cy="105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9" sz="850">
                <a:solidFill>
                  <a:srgbClr val="000000"/>
                </a:solidFill>
                <a:latin typeface="Roboto"/>
              </a:rPr>
              <a:t>class Fox: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1390" y="8533130"/>
            <a:ext cx="1075690" cy="105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5" sz="850">
                <a:solidFill>
                  <a:srgbClr val="000000"/>
                </a:solidFill>
                <a:latin typeface="Roboto"/>
              </a:rPr>
              <a:t> def sound(self):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5390" y="8672830"/>
            <a:ext cx="1833879" cy="105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7" sz="850">
                <a:solidFill>
                  <a:srgbClr val="000000"/>
                </a:solidFill>
                <a:latin typeface="Roboto"/>
              </a:rPr>
              <a:t> print("Wa-pa-pa-pa-pa-pow!")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160" y="9091930"/>
            <a:ext cx="632460" cy="105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8" sz="850">
                <a:solidFill>
                  <a:srgbClr val="000000"/>
                </a:solidFill>
                <a:latin typeface="Roboto"/>
              </a:rPr>
              <a:t>c1 = Cat()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160" y="9231630"/>
            <a:ext cx="632460" cy="105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5" sz="850">
                <a:solidFill>
                  <a:srgbClr val="000000"/>
                </a:solidFill>
                <a:latin typeface="Roboto"/>
              </a:rPr>
              <a:t>f1 = Fox()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2160" y="9511030"/>
            <a:ext cx="632460" cy="105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0" sz="850">
                <a:solidFill>
                  <a:srgbClr val="000000"/>
                </a:solidFill>
                <a:latin typeface="Roboto"/>
              </a:rPr>
              <a:t>c1.sound()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160" y="9650730"/>
            <a:ext cx="632460" cy="105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5" sz="850">
                <a:solidFill>
                  <a:srgbClr val="000000"/>
                </a:solidFill>
                <a:latin typeface="Roboto"/>
              </a:rPr>
              <a:t>f1.sound()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43370" y="10292080"/>
            <a:ext cx="322579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" sz="800">
                <a:solidFill>
                  <a:srgbClr val="808080"/>
                </a:solidFill>
                <a:latin typeface="Roboto"/>
              </a:rPr>
              <a:t>Page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697230"/>
            <a:ext cx="98552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0" b="1" sz="950">
                <a:solidFill>
                  <a:srgbClr val="000000"/>
                </a:solidFill>
                <a:latin typeface="Roboto"/>
              </a:rPr>
              <a:t>Expected output: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2160" y="938530"/>
            <a:ext cx="443230" cy="1054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4" sz="850">
                <a:solidFill>
                  <a:srgbClr val="000000"/>
                </a:solidFill>
                <a:latin typeface="Roboto"/>
              </a:rPr>
              <a:t>Output: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2160" y="1078230"/>
            <a:ext cx="252730" cy="1054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2" sz="850">
                <a:solidFill>
                  <a:srgbClr val="000000"/>
                </a:solidFill>
                <a:latin typeface="Roboto"/>
              </a:rPr>
              <a:t>Meow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2160" y="1217930"/>
            <a:ext cx="1201420" cy="1054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8" sz="850">
                <a:solidFill>
                  <a:srgbClr val="000000"/>
                </a:solidFill>
                <a:latin typeface="Roboto"/>
              </a:rPr>
              <a:t>Wa-pa-pa-pa-pa-pow!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" y="1662430"/>
            <a:ext cx="141351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0" b="1" sz="1400">
                <a:solidFill>
                  <a:srgbClr val="17365D"/>
                </a:solidFill>
                <a:latin typeface="Roboto"/>
              </a:rPr>
              <a:t>4. Encapsulation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160" y="1979930"/>
            <a:ext cx="1075690" cy="1054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6" sz="850">
                <a:solidFill>
                  <a:srgbClr val="000000"/>
                </a:solidFill>
                <a:latin typeface="Roboto"/>
              </a:rPr>
              <a:t>class ScoreBoard: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1390" y="2119630"/>
            <a:ext cx="1708150" cy="1054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4" sz="850">
                <a:solidFill>
                  <a:srgbClr val="000000"/>
                </a:solidFill>
                <a:latin typeface="Roboto"/>
              </a:rPr>
              <a:t> def __init__(self, score):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5390" y="2259330"/>
            <a:ext cx="2655570" cy="1054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2" sz="850">
                <a:solidFill>
                  <a:srgbClr val="000000"/>
                </a:solidFill>
                <a:latin typeface="Roboto"/>
              </a:rPr>
              <a:t> self.__score = score # Private attribute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1390" y="2538730"/>
            <a:ext cx="1328420" cy="1054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9" sz="850">
                <a:solidFill>
                  <a:srgbClr val="000000"/>
                </a:solidFill>
                <a:latin typeface="Roboto"/>
              </a:rPr>
              <a:t> def get_score(self):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5390" y="2678430"/>
            <a:ext cx="1264920" cy="1054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0" sz="850">
                <a:solidFill>
                  <a:srgbClr val="000000"/>
                </a:solidFill>
                <a:latin typeface="Roboto"/>
              </a:rPr>
              <a:t> return self.__score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160" y="3097530"/>
            <a:ext cx="1137920" cy="1054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2" sz="850">
                <a:solidFill>
                  <a:srgbClr val="000000"/>
                </a:solidFill>
                <a:latin typeface="Roboto"/>
              </a:rPr>
              <a:t>s1 = ScoreBoard(0)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160" y="3237230"/>
            <a:ext cx="1328420" cy="1054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9" sz="850">
                <a:solidFill>
                  <a:srgbClr val="000000"/>
                </a:solidFill>
                <a:latin typeface="Roboto"/>
              </a:rPr>
              <a:t>print(s1.get_score())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560" y="3478529"/>
            <a:ext cx="98552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0" b="1" sz="950">
                <a:solidFill>
                  <a:srgbClr val="000000"/>
                </a:solidFill>
                <a:latin typeface="Roboto"/>
              </a:rPr>
              <a:t>Expected output: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160" y="3719829"/>
            <a:ext cx="568960" cy="105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4" sz="850">
                <a:solidFill>
                  <a:srgbClr val="000000"/>
                </a:solidFill>
                <a:latin typeface="Roboto"/>
              </a:rPr>
              <a:t>Output: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560" y="4227830"/>
            <a:ext cx="549148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3" b="1" sz="950">
                <a:solidFill>
                  <a:srgbClr val="000000"/>
                </a:solidFill>
                <a:latin typeface="Roboto"/>
              </a:rPr>
              <a:t>Note:</a:t>
            </a:r>
            <a:r>
              <a:rPr spc="4" sz="950">
                <a:solidFill>
                  <a:srgbClr val="000000"/>
                </a:solidFill>
                <a:latin typeface="Roboto"/>
              </a:rPr>
              <a:t> Save the programs as a .py file and run them with Python 3. Each section can be run separately.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3370" y="10292080"/>
            <a:ext cx="322579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" sz="800">
                <a:solidFill>
                  <a:srgbClr val="808080"/>
                </a:solidFill>
                <a:latin typeface="Roboto"/>
              </a:rPr>
              <a:t>Page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